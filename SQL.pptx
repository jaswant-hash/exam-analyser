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272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https://i.stack.imgur.com/7uUaJ.png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98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Structured Query Language</a:t>
            </a:r>
          </a:p>
          <a:p>
            <a:r>
              <a:rPr lang="en-US" dirty="0"/>
              <a:t>SQL lets you access and manipulate databases</a:t>
            </a:r>
          </a:p>
          <a:p>
            <a:r>
              <a:rPr lang="en-US" dirty="0"/>
              <a:t>SQL is the standard language for Relational Database System. </a:t>
            </a:r>
          </a:p>
          <a:p>
            <a:r>
              <a:rPr lang="en-US" dirty="0"/>
              <a:t>All the Relational Database Management Systems (RDMS) like MySQL, MS Access, Oracle, Sybase, Informix, </a:t>
            </a:r>
            <a:r>
              <a:rPr lang="en-US" dirty="0" err="1"/>
              <a:t>Postgres</a:t>
            </a:r>
            <a:r>
              <a:rPr lang="en-US" dirty="0"/>
              <a:t> and SQL Server use SQL as their standard database language.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512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Can SQL do?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SQL can execute queries against a database</a:t>
            </a:r>
          </a:p>
          <a:p>
            <a:r>
              <a:rPr lang="en-US" dirty="0"/>
              <a:t>SQL can retrieve data from a database</a:t>
            </a:r>
          </a:p>
          <a:p>
            <a:r>
              <a:rPr lang="en-US" dirty="0"/>
              <a:t>SQL can insert  ,</a:t>
            </a:r>
            <a:r>
              <a:rPr lang="en-US" dirty="0" err="1"/>
              <a:t>delete,update</a:t>
            </a:r>
            <a:r>
              <a:rPr lang="en-US" dirty="0"/>
              <a:t> records in a database</a:t>
            </a:r>
          </a:p>
          <a:p>
            <a:r>
              <a:rPr lang="en-US" dirty="0"/>
              <a:t>SQL can create new databases</a:t>
            </a:r>
          </a:p>
          <a:p>
            <a:r>
              <a:rPr lang="en-US" dirty="0"/>
              <a:t>SQL can create new tables in a database</a:t>
            </a:r>
          </a:p>
          <a:p>
            <a:r>
              <a:rPr lang="en-US" dirty="0"/>
              <a:t>SQL can create stored procedures in a database</a:t>
            </a:r>
          </a:p>
          <a:p>
            <a:r>
              <a:rPr lang="en-US" dirty="0"/>
              <a:t>SQL can create views in a database</a:t>
            </a:r>
          </a:p>
          <a:p>
            <a:r>
              <a:rPr lang="en-US" dirty="0"/>
              <a:t>SQL can set permissions on tables, procedures, and views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081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Brief History of SQL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1970</a:t>
            </a:r>
            <a:r>
              <a:rPr lang="en-US" dirty="0"/>
              <a:t> − Dr. Edgar F. "Ted" </a:t>
            </a:r>
            <a:r>
              <a:rPr lang="en-US" dirty="0" err="1"/>
              <a:t>Codd</a:t>
            </a:r>
            <a:r>
              <a:rPr lang="en-US" dirty="0"/>
              <a:t> of IBM is known as the father of relational databases. He described a relational model for databases.</a:t>
            </a:r>
          </a:p>
          <a:p>
            <a:r>
              <a:rPr lang="en-US" b="1" dirty="0"/>
              <a:t>1974</a:t>
            </a:r>
            <a:r>
              <a:rPr lang="en-US" dirty="0"/>
              <a:t> − Structured Query Language appeared.</a:t>
            </a:r>
          </a:p>
          <a:p>
            <a:r>
              <a:rPr lang="en-US" b="1" dirty="0"/>
              <a:t>1978</a:t>
            </a:r>
            <a:r>
              <a:rPr lang="en-US" dirty="0"/>
              <a:t> − IBM worked to develop </a:t>
            </a:r>
            <a:r>
              <a:rPr lang="en-US" dirty="0" err="1"/>
              <a:t>Codd's</a:t>
            </a:r>
            <a:r>
              <a:rPr lang="en-US" dirty="0"/>
              <a:t> ideas and released a product named System/R.</a:t>
            </a:r>
          </a:p>
          <a:p>
            <a:r>
              <a:rPr lang="en-US" b="1" dirty="0"/>
              <a:t>1986</a:t>
            </a:r>
            <a:r>
              <a:rPr lang="en-US" dirty="0"/>
              <a:t> − IBM developed the first prototype of relational database and standardized by ANSI. The first relational database was released by Relational Software which later came to be known as Oracle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637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Architecture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95475"/>
            <a:ext cx="6477000" cy="428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6899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a table?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 in an RDBMS is stored in database objects which are called as </a:t>
            </a:r>
            <a:r>
              <a:rPr lang="en-US" b="1" dirty="0"/>
              <a:t>tables</a:t>
            </a:r>
            <a:r>
              <a:rPr lang="en-US" dirty="0"/>
              <a:t>. </a:t>
            </a:r>
          </a:p>
          <a:p>
            <a:r>
              <a:rPr lang="en-US" dirty="0"/>
              <a:t>This table is basically a collection of related data entries and it consists of numerous columns and rows.</a:t>
            </a:r>
          </a:p>
          <a:p>
            <a:r>
              <a:rPr lang="en-US" dirty="0"/>
              <a:t>A table is the most common and simplest form of data storage in a relational database.</a:t>
            </a:r>
          </a:p>
        </p:txBody>
      </p:sp>
    </p:spTree>
    <p:extLst>
      <p:ext uri="{BB962C8B-B14F-4D97-AF65-F5344CB8AC3E}">
        <p14:creationId xmlns:p14="http://schemas.microsoft.com/office/powerpoint/2010/main" val="2002252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</a:t>
            </a:r>
            <a:r>
              <a:rPr lang="en-US" dirty="0" err="1"/>
              <a:t>Datatype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SQL Data Type is an attribute that specifies the </a:t>
            </a:r>
            <a:r>
              <a:rPr lang="en-US" dirty="0">
                <a:solidFill>
                  <a:srgbClr val="FF0000"/>
                </a:solidFill>
              </a:rPr>
              <a:t>type of data of any object.</a:t>
            </a:r>
          </a:p>
        </p:txBody>
      </p:sp>
    </p:spTree>
    <p:extLst>
      <p:ext uri="{BB962C8B-B14F-4D97-AF65-F5344CB8AC3E}">
        <p14:creationId xmlns:p14="http://schemas.microsoft.com/office/powerpoint/2010/main" val="1752755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1000"/>
            <a:ext cx="8610600" cy="577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7510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533400"/>
            <a:ext cx="8686800" cy="555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2833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81013"/>
            <a:ext cx="8534400" cy="5919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5038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33400"/>
            <a:ext cx="8610599" cy="573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5841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33401"/>
            <a:ext cx="8382000" cy="571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52429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57200"/>
            <a:ext cx="8686800" cy="601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2272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</a:t>
            </a: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371600"/>
            <a:ext cx="3842327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143000"/>
            <a:ext cx="3952875" cy="505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3276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533400"/>
            <a:ext cx="8229600" cy="34320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1779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"/>
            <a:ext cx="8839199" cy="561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1605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SQL-SQL Commands</a:t>
            </a:r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0"/>
            <a:ext cx="8763000" cy="4472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1562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https://i.stack.imgur.com/7uUaJ.png"/>
          <p:cNvPicPr>
            <a:picLocks noGrp="1"/>
          </p:cNvPicPr>
          <p:nvPr>
            <p:ph idx="1"/>
          </p:nvPr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04800" y="685800"/>
            <a:ext cx="8534399" cy="513873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89822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DDL -</a:t>
            </a:r>
            <a:r>
              <a:rPr lang="en-IN" dirty="0"/>
              <a:t> Data Definition Language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dirty="0"/>
              <a:t>DDL deals with database </a:t>
            </a:r>
            <a:r>
              <a:rPr lang="en-IN" dirty="0">
                <a:solidFill>
                  <a:srgbClr val="FF0000"/>
                </a:solidFill>
              </a:rPr>
              <a:t>schemas and descriptions, of how the data should reside in the database.</a:t>
            </a:r>
            <a:endParaRPr lang="en-US" dirty="0">
              <a:solidFill>
                <a:srgbClr val="FF0000"/>
              </a:solidFill>
            </a:endParaRPr>
          </a:p>
          <a:p>
            <a:pPr lvl="0" fontAlgn="base"/>
            <a:r>
              <a:rPr lang="en-IN" dirty="0">
                <a:solidFill>
                  <a:srgbClr val="00B0F0"/>
                </a:solidFill>
              </a:rPr>
              <a:t>CREATE</a:t>
            </a:r>
            <a:r>
              <a:rPr lang="en-IN" dirty="0"/>
              <a:t> – to create database and its objects like (table, index, views, store procedure, function and triggers)</a:t>
            </a:r>
            <a:endParaRPr lang="en-US" dirty="0"/>
          </a:p>
          <a:p>
            <a:pPr lvl="0" fontAlgn="base"/>
            <a:r>
              <a:rPr lang="en-IN" dirty="0">
                <a:solidFill>
                  <a:srgbClr val="00B0F0"/>
                </a:solidFill>
              </a:rPr>
              <a:t>ALTER</a:t>
            </a:r>
            <a:r>
              <a:rPr lang="en-IN" dirty="0"/>
              <a:t> – alters the structure of the existing database</a:t>
            </a:r>
            <a:endParaRPr lang="en-US" dirty="0"/>
          </a:p>
          <a:p>
            <a:pPr lvl="0" fontAlgn="base"/>
            <a:r>
              <a:rPr lang="en-IN" dirty="0">
                <a:solidFill>
                  <a:srgbClr val="00B0F0"/>
                </a:solidFill>
              </a:rPr>
              <a:t>DROP</a:t>
            </a:r>
            <a:r>
              <a:rPr lang="en-IN" dirty="0"/>
              <a:t> – delete objects from the database</a:t>
            </a:r>
            <a:endParaRPr lang="en-US" dirty="0"/>
          </a:p>
          <a:p>
            <a:pPr lvl="0" fontAlgn="base"/>
            <a:r>
              <a:rPr lang="en-IN" dirty="0">
                <a:solidFill>
                  <a:srgbClr val="00B0F0"/>
                </a:solidFill>
              </a:rPr>
              <a:t>TRUNCATE</a:t>
            </a:r>
            <a:r>
              <a:rPr lang="en-IN" dirty="0"/>
              <a:t> – remove all records from a table, including all spaces allocated for the records are removed</a:t>
            </a:r>
            <a:endParaRPr lang="en-US" dirty="0"/>
          </a:p>
          <a:p>
            <a:pPr lvl="0" fontAlgn="base"/>
            <a:r>
              <a:rPr lang="en-IN" dirty="0">
                <a:solidFill>
                  <a:srgbClr val="00B0F0"/>
                </a:solidFill>
              </a:rPr>
              <a:t>COMMENT</a:t>
            </a:r>
            <a:r>
              <a:rPr lang="en-IN" dirty="0"/>
              <a:t> – add comments to the data dictionary</a:t>
            </a:r>
            <a:endParaRPr lang="en-US" dirty="0"/>
          </a:p>
          <a:p>
            <a:pPr lvl="0" fontAlgn="base"/>
            <a:r>
              <a:rPr lang="en-IN" dirty="0">
                <a:solidFill>
                  <a:srgbClr val="00B0F0"/>
                </a:solidFill>
              </a:rPr>
              <a:t>RENAME</a:t>
            </a:r>
            <a:r>
              <a:rPr lang="en-IN" dirty="0"/>
              <a:t> – rename an object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501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DML -</a:t>
            </a:r>
            <a:r>
              <a:rPr lang="en-IN" dirty="0"/>
              <a:t> Data Manipulation Language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81600"/>
          </a:xfrm>
        </p:spPr>
        <p:txBody>
          <a:bodyPr>
            <a:normAutofit/>
          </a:bodyPr>
          <a:lstStyle/>
          <a:p>
            <a:pPr fontAlgn="base"/>
            <a:r>
              <a:rPr lang="en-IN" dirty="0"/>
              <a:t>DML  deals with data manipulation, and includes most common SQL statements such SELECT, INSERT, UPDATE, DELETE </a:t>
            </a:r>
            <a:r>
              <a:rPr lang="en-IN" dirty="0" err="1"/>
              <a:t>etc</a:t>
            </a:r>
            <a:r>
              <a:rPr lang="en-IN" dirty="0"/>
              <a:t>, and it is used to store, modify, retrieve, delete and update data in database.</a:t>
            </a:r>
            <a:endParaRPr lang="en-US" dirty="0"/>
          </a:p>
          <a:p>
            <a:pPr lvl="0" fontAlgn="base"/>
            <a:r>
              <a:rPr lang="en-IN" dirty="0">
                <a:solidFill>
                  <a:srgbClr val="00B0F0"/>
                </a:solidFill>
              </a:rPr>
              <a:t>SELECT</a:t>
            </a:r>
            <a:r>
              <a:rPr lang="en-IN" dirty="0"/>
              <a:t> – retrieve data from the a database</a:t>
            </a:r>
            <a:endParaRPr lang="en-US" dirty="0"/>
          </a:p>
          <a:p>
            <a:pPr lvl="0" fontAlgn="base"/>
            <a:r>
              <a:rPr lang="en-IN" dirty="0">
                <a:solidFill>
                  <a:srgbClr val="00B0F0"/>
                </a:solidFill>
              </a:rPr>
              <a:t>INSERT</a:t>
            </a:r>
            <a:r>
              <a:rPr lang="en-IN" dirty="0"/>
              <a:t> – insert data into a table</a:t>
            </a:r>
            <a:endParaRPr lang="en-US" dirty="0"/>
          </a:p>
          <a:p>
            <a:pPr lvl="0" fontAlgn="base"/>
            <a:r>
              <a:rPr lang="en-IN" dirty="0">
                <a:solidFill>
                  <a:srgbClr val="00B0F0"/>
                </a:solidFill>
              </a:rPr>
              <a:t>UPDATE</a:t>
            </a:r>
            <a:r>
              <a:rPr lang="en-IN" dirty="0"/>
              <a:t> – updates existing data within a table</a:t>
            </a:r>
            <a:endParaRPr lang="en-US" dirty="0"/>
          </a:p>
          <a:p>
            <a:pPr lvl="0" fontAlgn="base"/>
            <a:r>
              <a:rPr lang="en-IN" dirty="0">
                <a:solidFill>
                  <a:srgbClr val="00B0F0"/>
                </a:solidFill>
              </a:rPr>
              <a:t>DELETE</a:t>
            </a:r>
            <a:r>
              <a:rPr lang="en-IN" dirty="0"/>
              <a:t> – Delete all records from a database table</a:t>
            </a:r>
            <a:endParaRPr lang="en-US" dirty="0"/>
          </a:p>
          <a:p>
            <a:pPr lvl="0" fontAlgn="base"/>
            <a:r>
              <a:rPr lang="en-IN" dirty="0">
                <a:solidFill>
                  <a:srgbClr val="00B0F0"/>
                </a:solidFill>
              </a:rPr>
              <a:t>MERGE</a:t>
            </a:r>
            <a:r>
              <a:rPr lang="en-IN" dirty="0"/>
              <a:t> – UPSERT operation (insert or update)</a:t>
            </a:r>
            <a:endParaRPr lang="en-US" dirty="0"/>
          </a:p>
          <a:p>
            <a:pPr lvl="0" fontAlgn="base"/>
            <a:r>
              <a:rPr lang="en-IN" dirty="0">
                <a:solidFill>
                  <a:srgbClr val="00B0F0"/>
                </a:solidFill>
              </a:rPr>
              <a:t>CALL</a:t>
            </a:r>
            <a:r>
              <a:rPr lang="en-IN" dirty="0"/>
              <a:t> – call a PL/SQL or Java subprogram</a:t>
            </a:r>
            <a:endParaRPr lang="en-US" dirty="0"/>
          </a:p>
          <a:p>
            <a:pPr lvl="0" fontAlgn="base"/>
            <a:r>
              <a:rPr lang="en-IN" dirty="0">
                <a:solidFill>
                  <a:srgbClr val="00B0F0"/>
                </a:solidFill>
              </a:rPr>
              <a:t>EXPLAIN PLAN </a:t>
            </a:r>
            <a:r>
              <a:rPr lang="en-IN" dirty="0"/>
              <a:t>– interpretation of the data access path</a:t>
            </a:r>
            <a:endParaRPr lang="en-US" dirty="0"/>
          </a:p>
          <a:p>
            <a:pPr lvl="0" fontAlgn="base"/>
            <a:r>
              <a:rPr lang="en-IN" dirty="0">
                <a:solidFill>
                  <a:srgbClr val="00B0F0"/>
                </a:solidFill>
              </a:rPr>
              <a:t>LOCK TABLE </a:t>
            </a:r>
            <a:r>
              <a:rPr lang="en-IN" dirty="0"/>
              <a:t>– concurrency Control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897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DCL -</a:t>
            </a:r>
            <a:r>
              <a:rPr lang="en-IN" dirty="0"/>
              <a:t> Data Control Language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IN" dirty="0"/>
              <a:t>DCL includes commands such as GRANT, and </a:t>
            </a:r>
            <a:r>
              <a:rPr lang="en-IN" dirty="0">
                <a:solidFill>
                  <a:schemeClr val="tx2"/>
                </a:solidFill>
              </a:rPr>
              <a:t>mostly concerned with rights, permissions and other controls of the database system.</a:t>
            </a:r>
            <a:endParaRPr lang="en-US" dirty="0">
              <a:solidFill>
                <a:schemeClr val="tx2"/>
              </a:solidFill>
            </a:endParaRPr>
          </a:p>
          <a:p>
            <a:pPr lvl="0" fontAlgn="base"/>
            <a:r>
              <a:rPr lang="en-IN" dirty="0">
                <a:solidFill>
                  <a:srgbClr val="00B0F0"/>
                </a:solidFill>
              </a:rPr>
              <a:t>GRANT</a:t>
            </a:r>
            <a:r>
              <a:rPr lang="en-IN" dirty="0"/>
              <a:t> – allow users access privileges to database</a:t>
            </a:r>
            <a:endParaRPr lang="en-US" dirty="0"/>
          </a:p>
          <a:p>
            <a:pPr lvl="0" fontAlgn="base"/>
            <a:r>
              <a:rPr lang="en-IN" dirty="0">
                <a:solidFill>
                  <a:srgbClr val="00B0F0"/>
                </a:solidFill>
              </a:rPr>
              <a:t>REVOKE</a:t>
            </a:r>
            <a:r>
              <a:rPr lang="en-IN" dirty="0"/>
              <a:t> – withdraw users access privileges given by using the GRANT command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1501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TCL -</a:t>
            </a:r>
            <a:r>
              <a:rPr lang="en-IN" dirty="0"/>
              <a:t> Transaction Control Language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IN" dirty="0"/>
              <a:t>TCL  deals with transaction within a database.</a:t>
            </a:r>
            <a:endParaRPr lang="en-US" dirty="0"/>
          </a:p>
          <a:p>
            <a:pPr lvl="0" fontAlgn="base"/>
            <a:r>
              <a:rPr lang="en-IN" dirty="0">
                <a:solidFill>
                  <a:srgbClr val="00B0F0"/>
                </a:solidFill>
              </a:rPr>
              <a:t>COMMIT</a:t>
            </a:r>
            <a:r>
              <a:rPr lang="en-IN" dirty="0"/>
              <a:t> – commits a Transaction</a:t>
            </a:r>
            <a:endParaRPr lang="en-US" dirty="0"/>
          </a:p>
          <a:p>
            <a:pPr lvl="0" fontAlgn="base"/>
            <a:r>
              <a:rPr lang="en-IN" dirty="0">
                <a:solidFill>
                  <a:srgbClr val="00B0F0"/>
                </a:solidFill>
              </a:rPr>
              <a:t>ROLLBACK</a:t>
            </a:r>
            <a:r>
              <a:rPr lang="en-IN" dirty="0"/>
              <a:t> – rollback a transaction in case of any error occurs</a:t>
            </a:r>
            <a:endParaRPr lang="en-US" dirty="0"/>
          </a:p>
          <a:p>
            <a:pPr lvl="0" fontAlgn="base"/>
            <a:r>
              <a:rPr lang="en-IN" dirty="0">
                <a:solidFill>
                  <a:srgbClr val="00B0F0"/>
                </a:solidFill>
              </a:rPr>
              <a:t>SAVEPOIN</a:t>
            </a:r>
            <a:r>
              <a:rPr lang="en-IN" dirty="0"/>
              <a:t>T – to roll back the transaction making points within groups</a:t>
            </a:r>
            <a:endParaRPr lang="en-US" dirty="0"/>
          </a:p>
          <a:p>
            <a:pPr lvl="0" fontAlgn="base"/>
            <a:r>
              <a:rPr lang="en-IN" dirty="0">
                <a:solidFill>
                  <a:srgbClr val="00B0F0"/>
                </a:solidFill>
              </a:rPr>
              <a:t>SET TRANSACTION </a:t>
            </a:r>
            <a:r>
              <a:rPr lang="en-IN" dirty="0"/>
              <a:t>– specify characteristics for the transaction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7941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115</TotalTime>
  <Words>600</Words>
  <Application>Microsoft Office PowerPoint</Application>
  <PresentationFormat>On-screen Show (4:3)</PresentationFormat>
  <Paragraphs>57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Arial</vt:lpstr>
      <vt:lpstr>Clarity</vt:lpstr>
      <vt:lpstr>SQL</vt:lpstr>
      <vt:lpstr>SQL</vt:lpstr>
      <vt:lpstr>What Can SQL do? </vt:lpstr>
      <vt:lpstr>A Brief History of SQL </vt:lpstr>
      <vt:lpstr>SQL Architecture</vt:lpstr>
      <vt:lpstr>What is a table? </vt:lpstr>
      <vt:lpstr>SQL Datatype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Steps</vt:lpstr>
      <vt:lpstr>PowerPoint Presentation</vt:lpstr>
      <vt:lpstr>PowerPoint Presentation</vt:lpstr>
      <vt:lpstr>SQL-SQL Commands</vt:lpstr>
      <vt:lpstr>PowerPoint Presentation</vt:lpstr>
      <vt:lpstr>DDL - Data Definition Language </vt:lpstr>
      <vt:lpstr>DML - Data Manipulation Language  </vt:lpstr>
      <vt:lpstr>DCL - Data Control Language  </vt:lpstr>
      <vt:lpstr>TCL - Transaction Control Language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</dc:title>
  <dc:creator>sony</dc:creator>
  <cp:lastModifiedBy>uma sudhakaran</cp:lastModifiedBy>
  <cp:revision>12</cp:revision>
  <dcterms:created xsi:type="dcterms:W3CDTF">2006-08-16T00:00:00Z</dcterms:created>
  <dcterms:modified xsi:type="dcterms:W3CDTF">2021-04-29T05:04:26Z</dcterms:modified>
</cp:coreProperties>
</file>